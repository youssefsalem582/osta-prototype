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CarCare is a strong product with a generic name. This deck proposes a rebrand to Garagy, locates the Egypt market gap, sharpens the MVP, and recommends a backend. Recommendation in one line: Garagy + map-first verified discovery + Supabase backbone with a Laravel·Filament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Egypt: ~6M cars, aftermarket ~$1.5–1.6B growing ~6–7% to ~$2.3–2.5B by 2030, ~35k workshops mostly offline. Sources: TechSci/GMI research, fleet stats — in the report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ce-laughing-cannon/mnt/outputs/brand/png/lockup_A_trans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5486400" cy="1645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68680" y="3154680"/>
            <a:ext cx="914400" cy="54864"/>
          </a:xfrm>
          <a:prstGeom prst="rect">
            <a:avLst/>
          </a:prstGeom>
          <a:solidFill>
            <a:srgbClr val="FFB02E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Rebrand &amp; Product Strategy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41248" y="43434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2E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name and identity for the “CarCare” graduation project — with the market gap, a sharpened MVP, and a backend recommendation.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1248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Dpharma-IT  ·  June 2026  ·  Launch market: Egypt  ·  EN / العربية</a:t>
            </a:r>
            <a:endParaRPr lang="en-US" sz="1150" dirty="0"/>
          </a:p>
        </p:txBody>
      </p:sp>
      <p:pic>
        <p:nvPicPr>
          <p:cNvPr id="7" name="Image 1" descr="/sessions/nice-laughing-cannon/mnt/outputs/brand/png/appicon_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5074920"/>
            <a:ext cx="1371600" cy="1371600"/>
          </a:xfrm>
          <a:prstGeom prst="rect">
            <a:avLst/>
          </a:prstGeom>
        </p:spPr>
      </p:pic>
      <p:pic>
        <p:nvPicPr>
          <p:cNvPr id="8" name="Image 2" descr="/sessions/nice-laughing-cannon/mnt/outputs/brand/png/appicon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5440680"/>
            <a:ext cx="914400" cy="914400"/>
          </a:xfrm>
          <a:prstGeom prst="rect">
            <a:avLst/>
          </a:prstGeom>
        </p:spPr>
      </p:pic>
      <p:pic>
        <p:nvPicPr>
          <p:cNvPr id="9" name="Image 3" descr="/sessions/nice-laughing-cannon/mnt/outputs/brand/png/appicon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54406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REBRAND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great product with a forgettable name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trike="sngStrike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CarCare</a:t>
            </a:r>
            <a:pPr indent="0" marL="0">
              <a:buNone/>
            </a:pPr>
            <a:r>
              <a:rPr lang="en-US" sz="30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Garagy</a:t>
            </a:r>
            <a:endParaRPr lang="en-US" sz="3000" dirty="0"/>
          </a:p>
        </p:txBody>
      </p:sp>
      <p:pic>
        <p:nvPicPr>
          <p:cNvPr id="5" name="Image 0" descr="/sessions/nice-laughing-cannon/mnt/outputs/brand/png/appicon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1417320"/>
            <a:ext cx="155448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6974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3017520"/>
            <a:ext cx="868680" cy="86868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790" y="3208630"/>
            <a:ext cx="486461" cy="4864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68680" y="4526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trademark or rank in app stores — “CarCare” is a category, not a brand.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251960" y="26974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3017520"/>
            <a:ext cx="868680" cy="86868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10" y="3208630"/>
            <a:ext cx="486461" cy="4864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Crowded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572000" y="4526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used by detailing shops and apps worldwide; you’d fight for every search.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955280" y="26974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75320" y="3017520"/>
            <a:ext cx="868680" cy="86868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430" y="3208630"/>
            <a:ext cx="486461" cy="4864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7532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Undersells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275320" y="4526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nothing about the real product: trusted, map-first discovery + booking + memory.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name here works in Egyptian Arabic and English, is short and ownable, and hints at the product’s soul — your car, looked after, nearby.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big, offline market — nobody has organised it by trust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~6M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passenger cars (≈10.4M vehicles)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$1.5–1.6B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3520440" y="3154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aftermarket today → ~$2.3–2.5B by 2030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~35,000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309360" y="3154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 &amp; service providers, mostly offline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0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$600+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098280" y="3154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spend per car, every year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91672" cy="1737360"/>
          </a:xfrm>
          <a:prstGeom prst="roundRect">
            <a:avLst>
              <a:gd name="adj" fmla="val 6316"/>
            </a:avLst>
          </a:prstGeom>
          <a:solidFill>
            <a:srgbClr val="0A4F5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983480"/>
            <a:ext cx="868680" cy="8686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103120" y="4800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isn’t “another car app.”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103120" y="53035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F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becoming the trusted layer between millions of owners and tens of thousands of workshops — the connective tissue that doesn’t exist yet.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owns one lane — the trusted middle is empty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Mtor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AUTO-PARTS (B2B)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marketplace + mechanic app. No consumer discovery or booking.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7830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011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52628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WASH &amp; REPAIR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2628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wash + repair booking. Service-led, not trust-ranked discovery.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7830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011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22960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AGGREGATOR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↔ provider matching. No map-first, vehicle-aware ranking.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MAYDAY · Beliaa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960" y="4681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ROADSIDE ASSISTANCE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Emergencies only — not planned maintenance or booking.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51960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Petromin · Nacita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526280" y="4681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CHAINS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26280" y="4983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provider — not an open, comparable marketplace.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0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Pages · Google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229600" y="4681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LISTINGS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0" y="4983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&amp; phones. No verification, fair pricing, booking or memory.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F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 nobody is doing well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083E3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DF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don’t know which workshop near me I can </a:t>
            </a:r>
            <a:pPr indent="0" marL="0">
              <a:lnSpc>
                <a:spcPct val="110000"/>
              </a:lnSpc>
              <a:buNone/>
            </a:pPr>
            <a:r>
              <a:rPr lang="en-US" sz="1900" b="1" i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DF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pPr indent="0" marL="0">
              <a:lnSpc>
                <a:spcPct val="110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specific car</a:t>
            </a:r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DF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at a fair price — and I have no record of what’s already been done to it.”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611880"/>
            <a:ext cx="822960" cy="82296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" y="3792931"/>
            <a:ext cx="460858" cy="4608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4526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mechanic honest and competent? Badges, real reviews, verification.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51960" y="333756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3611880"/>
            <a:ext cx="822960" cy="82296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051" y="379293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572000" y="4526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he know my make/model and have the right parts? Vehicle-aware matching.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55280" y="333756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3611880"/>
            <a:ext cx="822960" cy="82296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371" y="3792931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81160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275320" y="4526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service history today — so resale and planning suffer. Garagy remembers.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  </a:t>
            </a:r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DF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Garagy is the map-first app that shows verified service centres, fair prices and live booking — and remembers your car’s history.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NEW NAME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Garagy — “your garage,” in your pocket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pic>
        <p:nvPicPr>
          <p:cNvPr id="5" name="Image 0" descr="/sessions/nice-laughing-cannon/mnt/outputs/brand/png/lockup_A_trans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4206240" cy="12618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429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جراجي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40690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Coined from “garage” + the possessive “-y.” Reads instantly as cars in both languages, means “my garage,” and maps onto the in-app Garage where your cars and history live. Short, warm, ownable.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5532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· Book · Track</a:t>
            </a:r>
            <a:pPr indent="0" marL="0">
              <a:buNone/>
            </a:pPr>
            <a:r>
              <a:rPr lang="en-US" sz="14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اعرف · احجز · تابع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92240" y="224028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66560" y="23865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  ·  سَنَد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766560" y="2770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Trust-first, premium. Means “trusted backing” — the whole thesis in one word.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92240" y="347472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66560" y="36210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MotorMap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766560" y="40050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clarity. Says the strategy out loud; descriptive, so harder to own.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92240" y="480060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0A4F50"/>
          </a:solidFill>
          <a:ln/>
        </p:spPr>
      </p:sp>
      <p:sp>
        <p:nvSpPr>
          <p:cNvPr id="17" name="Text 14"/>
          <p:cNvSpPr/>
          <p:nvPr/>
        </p:nvSpPr>
        <p:spPr>
          <a:xfrm>
            <a:off x="676656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 &amp; trust line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5257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trusted garage, on the map.”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جراجك الموثوق على الخريطة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NEW NAME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shortlist — a mix across three styles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DF4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Invented / brandable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OWNABLE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729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 garage” · recommended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867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Revvo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“rev” · energetic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946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Motary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330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“motor” + “-y” · platform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173736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Arabic-rooted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&amp; TRUST-LED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2628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31729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“trusted backing”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26280" y="3867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Maalem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6280" y="4251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“landmark” + “the master”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26280" y="4946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Sanaya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26280" y="5330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craftsman”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0" y="173736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descriptive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0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CLEAR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MotorMap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0" y="31729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= the product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0" y="3867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0" y="4251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+ map pin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0" y="4946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PitStop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0" y="5330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expert service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Garagy.  Clear in both languages, ownable, and it reinforces the in-app “Garage.”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NEW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idea, three directions — built around the verified check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4160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3F7F7"/>
          </a:solidFill>
          <a:ln/>
        </p:spPr>
      </p:sp>
      <p:pic>
        <p:nvPicPr>
          <p:cNvPr id="6" name="Image 0" descr="/sessions/nice-laughing-cannon/mnt/outputs/brand/png/icon_A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331720"/>
            <a:ext cx="1005840" cy="1005840"/>
          </a:xfrm>
          <a:prstGeom prst="rect">
            <a:avLst/>
          </a:prstGeom>
        </p:spPr>
      </p:pic>
      <p:pic>
        <p:nvPicPr>
          <p:cNvPr id="7" name="Image 1" descr="/sessions/nice-laughing-cannon/mnt/outputs/brand/png/appicon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840480"/>
            <a:ext cx="1737360" cy="1737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Pin-Car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68680" y="5623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Map-first. A pin holds the car; amber = verified. Recommended.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251960" y="1783080"/>
            <a:ext cx="3474720" cy="4160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17720" y="21031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3F7F7"/>
          </a:solidFill>
          <a:ln/>
        </p:spPr>
      </p:sp>
      <p:pic>
        <p:nvPicPr>
          <p:cNvPr id="12" name="Image 2" descr="/sessions/nice-laughing-cannon/mnt/outputs/brand/png/icon_B_col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331720"/>
            <a:ext cx="1005840" cy="1005840"/>
          </a:xfrm>
          <a:prstGeom prst="rect">
            <a:avLst/>
          </a:prstGeom>
        </p:spPr>
      </p:pic>
      <p:pic>
        <p:nvPicPr>
          <p:cNvPr id="13" name="Image 3" descr="/sessions/nice-laughing-cannon/mnt/outputs/brand/png/appicon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840480"/>
            <a:ext cx="1737360" cy="1737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7200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Gauge-G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572000" y="5623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monogram / car-health gauge. The most “tech.”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7955280" y="1783080"/>
            <a:ext cx="3474720" cy="4160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321040" y="21031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3F7F7"/>
          </a:solidFill>
          <a:ln/>
        </p:spPr>
      </p:sp>
      <p:pic>
        <p:nvPicPr>
          <p:cNvPr id="18" name="Image 4" descr="/sessions/nice-laughing-cannon/mnt/outputs/brand/png/icon_C_col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2331720"/>
            <a:ext cx="1005840" cy="1005840"/>
          </a:xfrm>
          <a:prstGeom prst="rect">
            <a:avLst/>
          </a:prstGeom>
        </p:spPr>
      </p:pic>
      <p:pic>
        <p:nvPicPr>
          <p:cNvPr id="19" name="Image 5" descr="/sessions/nice-laughing-cannon/mnt/outputs/brand/png/appicon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3840480"/>
            <a:ext cx="1737360" cy="17373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7532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Care roundel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8275320" y="5623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 refresh of today’s logo — the car cradled by hands.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NEW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system</a:t>
            </a:r>
            <a:endParaRPr lang="en-US" sz="3300" dirty="0"/>
          </a:p>
        </p:txBody>
      </p:sp>
      <p:pic>
        <p:nvPicPr>
          <p:cNvPr id="4" name="Image 0" descr="/sessions/nice-laughing-cannon/mnt/outputs/brand/png/lockup_A_trans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270248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611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A4F5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teal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#0A4F50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27632" y="3611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1581912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581912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#0E7C7B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706624" y="3611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7A2A2"/>
          </a:solidFill>
          <a:ln/>
        </p:spPr>
      </p:sp>
      <p:sp>
        <p:nvSpPr>
          <p:cNvPr id="13" name="Text 10"/>
          <p:cNvSpPr/>
          <p:nvPr/>
        </p:nvSpPr>
        <p:spPr>
          <a:xfrm>
            <a:off x="2660904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60904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#17A2A2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785616" y="3611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B02E"/>
          </a:solidFill>
          <a:ln/>
        </p:spPr>
      </p:sp>
      <p:sp>
        <p:nvSpPr>
          <p:cNvPr id="16" name="Text 13"/>
          <p:cNvSpPr/>
          <p:nvPr/>
        </p:nvSpPr>
        <p:spPr>
          <a:xfrm>
            <a:off x="3739896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739896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#FFB02E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864608" y="3611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B2027"/>
          </a:solidFill>
          <a:ln/>
        </p:spPr>
      </p:sp>
      <p:sp>
        <p:nvSpPr>
          <p:cNvPr id="19" name="Text 16"/>
          <p:cNvSpPr/>
          <p:nvPr/>
        </p:nvSpPr>
        <p:spPr>
          <a:xfrm>
            <a:off x="4818888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18888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#0B2027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864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is used only for the verified check and primary actions — so it stays meaningful.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92240" y="169164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7665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76656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Latin — Poppins.  </a:t>
            </a:r>
            <a:pPr indent="0" marL="0"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Geometric, friendly, modern.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766560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— Cairo / Tajawal.  </a:t>
            </a:r>
            <a:pPr indent="0" marL="0">
              <a:buNone/>
            </a:pPr>
            <a:r>
              <a:rPr lang="en-US" sz="130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RTL companion for جراجي.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icon</a:t>
            </a:r>
            <a:endParaRPr lang="en-US" sz="1500" dirty="0"/>
          </a:p>
        </p:txBody>
      </p:sp>
      <p:pic>
        <p:nvPicPr>
          <p:cNvPr id="27" name="Image 1" descr="/sessions/nice-laughing-cannon/mnt/outputs/brand/png/appicon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297680"/>
            <a:ext cx="1188720" cy="1188720"/>
          </a:xfrm>
          <a:prstGeom prst="rect">
            <a:avLst/>
          </a:prstGeom>
        </p:spPr>
      </p:pic>
      <p:pic>
        <p:nvPicPr>
          <p:cNvPr id="28" name="Image 2" descr="/sessions/nice-laughing-cannon/mnt/outputs/brand/png/appicon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297680"/>
            <a:ext cx="1188720" cy="1188720"/>
          </a:xfrm>
          <a:prstGeom prst="rect">
            <a:avLst/>
          </a:prstGeom>
        </p:spPr>
      </p:pic>
      <p:pic>
        <p:nvPicPr>
          <p:cNvPr id="29" name="Image 3" descr="/sessions/nice-laughing-cannon/mnt/outputs/brand/png/appicon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4297680"/>
            <a:ext cx="1188720" cy="118872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492240" y="566928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0A4F50"/>
          </a:solidFill>
          <a:ln/>
        </p:spPr>
      </p:sp>
      <p:sp>
        <p:nvSpPr>
          <p:cNvPr id="31" name="Text 25"/>
          <p:cNvSpPr/>
          <p:nvPr/>
        </p:nvSpPr>
        <p:spPr>
          <a:xfrm>
            <a:off x="6766560" y="5833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= pin + car + check.  Don’t recolour the check or add effects.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 — a wedge now, a moat later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37944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58645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9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Discovery &amp; map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846320" y="1874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map with categories, trust filters, 6-axis &amp; car-specific reviews.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515600" y="1938528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E3F1F1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0" y="193852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26243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277063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891333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752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Booking &amp; operations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508760" y="3081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TWO-SIDED ENGINE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846320" y="28072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from a pin, 10-min hold, status tracking, auto-invoice.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10515600" y="2871216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E3F1F1"/>
          </a:solidFill>
          <a:ln/>
        </p:spPr>
      </p:sp>
      <p:sp>
        <p:nvSpPr>
          <p:cNvPr id="19" name="Text 15"/>
          <p:cNvSpPr/>
          <p:nvPr/>
        </p:nvSpPr>
        <p:spPr>
          <a:xfrm>
            <a:off x="10515600" y="287121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48640" y="355701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824021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3685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Car memory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508760" y="4014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ENGINE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846320" y="373989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Garage, auto-logged maintenance, reminders, health score, expenses.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10515600" y="3803904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E3F1F1"/>
          </a:solidFill>
          <a:ln/>
        </p:spPr>
      </p:sp>
      <p:sp>
        <p:nvSpPr>
          <p:cNvPr id="27" name="Text 22"/>
          <p:cNvSpPr/>
          <p:nvPr/>
        </p:nvSpPr>
        <p:spPr>
          <a:xfrm>
            <a:off x="10515600" y="380390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MVP→P2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77240" y="463600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756709"/>
            <a:ext cx="307238" cy="30723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50876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Trust &amp; safety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508760" y="4946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846320" y="467258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badges (Authorized / Verified / Community) + verification + disputes.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10515600" y="473659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E3F1F1"/>
          </a:solidFill>
          <a:ln/>
        </p:spPr>
      </p:sp>
      <p:sp>
        <p:nvSpPr>
          <p:cNvPr id="35" name="Text 29"/>
          <p:cNvSpPr/>
          <p:nvPr/>
        </p:nvSpPr>
        <p:spPr>
          <a:xfrm>
            <a:off x="10515600" y="4736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548640" y="542239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77240" y="5568696"/>
            <a:ext cx="548640" cy="548640"/>
          </a:xfrm>
          <a:prstGeom prst="ellipse">
            <a:avLst/>
          </a:prstGeom>
          <a:solidFill>
            <a:srgbClr val="FFB02E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5689397"/>
            <a:ext cx="307238" cy="30723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508760" y="5550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Growth &amp; “wow”</a:t>
            </a:r>
            <a:endParaRPr lang="en-US" sz="1500" dirty="0"/>
          </a:p>
        </p:txBody>
      </p:sp>
      <p:sp>
        <p:nvSpPr>
          <p:cNvPr id="40" name="Text 33"/>
          <p:cNvSpPr/>
          <p:nvPr/>
        </p:nvSpPr>
        <p:spPr>
          <a:xfrm>
            <a:off x="1508760" y="5879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4846320" y="56052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Offers, referrals, roadside ETA, AI scanners, OBD, parts marketplace.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10515600" y="566928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FFF1D9"/>
          </a:solidFill>
          <a:ln/>
        </p:spPr>
      </p:sp>
      <p:sp>
        <p:nvSpPr>
          <p:cNvPr id="43" name="Text 36"/>
          <p:cNvSpPr/>
          <p:nvPr/>
        </p:nvSpPr>
        <p:spPr>
          <a:xfrm>
            <a:off x="10515600" y="56692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P3–5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MVP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 thing that proves the wedge — in ~13 weeks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EEF9F4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800" b="1" dirty="0">
                <a:solidFill>
                  <a:srgbClr val="0A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MVP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city (Greater Cairo), 50–100 hand-verified centres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Map-first discovery: pins, filters, search, directions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profiles: badges, transparent prices, reviews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happy-path: service → slot → confirm, 10-min hold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Cash-on-service first (no in-app cards yet)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Garage + auto-logged maintenance + basic reminders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B2B: onboarding, dashboard, accept/reject, complete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verification queue (a Filament web panel)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BF1F1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indent="0" marL="0">
              <a:buNone/>
            </a:pPr>
            <a:r>
              <a:rPr lang="en-US" sz="1800" b="1" dirty="0">
                <a:solidFill>
                  <a:srgbClr val="A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out (Phase 2+)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card payments, payouts, commission engine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CRM, promotions, business tiers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expense/fuel analytics, health score, documents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Roadside / emergency dispatch &amp; live ETA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scanners (warning-light, damage), OBD-II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marketplace, community, multi-city, web clients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chat (use call + SMS instead)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F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MVP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North-star &amp; success metrics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083E3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North-star:  </a:t>
            </a:r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completed, verified bookings per month in the launch city.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3703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service centres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32918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3703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66160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car owners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3703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55080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bookings / month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15400" y="32918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0" y="3703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≥30%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144000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 2nd service in 60 days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DFF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decisions de-risk launch: start cash-first (defer payments/PCI), and seed the first 50–100 centres by hand — trust is the product.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BACKEND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Laravel·Filament  vs  Firebase  vs  Supabase</a:t>
            </a:r>
            <a:endParaRPr lang="en-US" sz="3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4690872"/>
                <a:gridCol w="219456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product needs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Laravel + Filament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Geospatial “centres near me” (map-first core)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PostGIS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2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geohash hacks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build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Realtime (booking → live dashboard)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strength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Reverb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Time-to-MVP (5 Flutter devs, no backend)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2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backend dev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back-office (verify / disputes / payouts)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Studio + 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2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console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Filament 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payments (Paymob / Fawry) &amp; webhooks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 Fns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Fns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direct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Cost, portability, vendor lock-in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Postgres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2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NoSQL lock-in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 ops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Hiring in Egypt (talent pool)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huge PHP pool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9-criterion scorecard in the report.  Geospatial + realtime are what define a map-first product.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BACKEND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Supabase backbone + a Filament admin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FFFDF4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Supabase as the backbone, add a Laravel + Filament web admin on the same database, and use Firebase only for push (FCM).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337560"/>
            <a:ext cx="777240" cy="77724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3508553"/>
            <a:ext cx="435254" cy="4352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46177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× 3 surfaces → Supabase: Postgres + PostGIS, Auth, Realtime, Storage, Edge Functions. FCM for push.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306324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3337560"/>
            <a:ext cx="777240" cy="777240"/>
          </a:xfrm>
          <a:prstGeom prst="ellipse">
            <a:avLst/>
          </a:prstGeom>
          <a:solidFill>
            <a:srgbClr val="EAF2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993" y="3508553"/>
            <a:ext cx="435254" cy="435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back-office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0" y="46177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+ Filament on the same Postgres: verification, disputes, payouts, moderation, payment webhooks.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55280" y="306324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3F7F7"/>
          </a:solidFill>
          <a:ln/>
          <a:effectLst>
            <a:outerShdw sx="100000" sy="100000" kx="0" ky="0" algn="bl" rotWithShape="0" blurRad="114300" dist="38100" dir="5400000">
              <a:srgbClr val="0A4F5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3337560"/>
            <a:ext cx="777240" cy="777240"/>
          </a:xfrm>
          <a:prstGeom prst="ellipse">
            <a:avLst/>
          </a:prstGeom>
          <a:solidFill>
            <a:srgbClr val="FBE4E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313" y="3508553"/>
            <a:ext cx="435254" cy="43525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Firebase-primary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275320" y="46177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D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native geo is disqualifying for a map-first product; NoSQL modelling + cost &amp; lock-in add drag.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55778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0A4F50"/>
          </a:solidFill>
          <a:ln/>
        </p:spPr>
      </p:sp>
      <p:sp>
        <p:nvSpPr>
          <p:cNvPr id="22" name="Text 17"/>
          <p:cNvSpPr/>
          <p:nvPr/>
        </p:nvSpPr>
        <p:spPr>
          <a:xfrm>
            <a:off x="914400" y="55778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into build: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is limited in Egypt — plan for a local gateway (Paymob / Fawry / Kashier), server-side, when in-app payments switch on in Phase 2.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ce-laughing-cannon/mnt/outputs/brand/png/icon_A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887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6974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Garagy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914400" y="3703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FFB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trusted garage, on the map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63040" y="4800600"/>
            <a:ext cx="9262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  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the name &amp; trademark  ·  lock Direction A  ·  spin up Supabase + a Filament admin  ·  seed 50–100 verified centres  ·  build the 13-week MVP.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62179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Dpharma-IT  ·  June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Garagy — Rebrand &amp; Product Strategy</dc:title>
  <dc:subject>PptxGenJS Presentation</dc:subject>
  <dc:creator>Dpharma-IT</dc:creator>
  <cp:lastModifiedBy>Dpharma-IT</cp:lastModifiedBy>
  <cp:revision>1</cp:revision>
  <dcterms:created xsi:type="dcterms:W3CDTF">2026-06-13T12:16:33Z</dcterms:created>
  <dcterms:modified xsi:type="dcterms:W3CDTF">2026-06-13T12:16:33Z</dcterms:modified>
</cp:coreProperties>
</file>