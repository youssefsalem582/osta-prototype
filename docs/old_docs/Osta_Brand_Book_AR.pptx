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كتيّب هوية أسطى: شخصية «الصاحب الجدع»، نبرة مصرية دافية، ماسكوت العربية المبتسمة، ووعد «مش هتتغش».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0C6B6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474720"/>
            <a:ext cx="4206240" cy="4206240"/>
          </a:xfrm>
          <a:prstGeom prst="ellipse">
            <a:avLst/>
          </a:prstGeom>
          <a:solidFill>
            <a:srgbClr val="FFB02E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4" name="Image 0" descr="/sessions/nice-laughing-cannon/mnt/outputs/brand/mascot_v3/osta_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3246120"/>
            <a:ext cx="3108960" cy="2963875"/>
          </a:xfrm>
          <a:prstGeom prst="rect">
            <a:avLst/>
          </a:prstGeom>
        </p:spPr>
      </p:pic>
      <p:pic>
        <p:nvPicPr>
          <p:cNvPr id="5" name="Image 1" descr="/sessions/nice-laughing-cannon/mnt/outputs/brand/png/osta_locku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937760" cy="1481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0" y="3246120"/>
            <a:ext cx="1005840" cy="54864"/>
          </a:xfrm>
          <a:prstGeom prst="rect">
            <a:avLst/>
          </a:prstGeom>
          <a:solidFill>
            <a:srgbClr val="FFB02E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كتيّب الهوية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548640" y="4526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شخصية أسطى، نبرة كلامه، شكله، وألوانه — كل اللي يخلّيه «الصاحب الجدع» بتاع العربيات.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مُعدّ لـ Dpharma-IT · السوق: مصر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الجوهر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أسطى = صاحبك اللي بياخد باله من عربيتك</a:t>
            </a:r>
            <a:endParaRPr lang="en-US" sz="3000" dirty="0"/>
          </a:p>
        </p:txBody>
      </p:sp>
      <p:pic>
        <p:nvPicPr>
          <p:cNvPr id="4" name="Image 0" descr="/sessions/nice-laughing-cannon/mnt/outputs/brand/mascot_v3/osta_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0"/>
            <a:ext cx="3291840" cy="31382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1783080"/>
            <a:ext cx="7708392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206240" y="20116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إحنا مش بس تطبيق صيانة. إحنا الأسطى اللي بتثق فيه: يلاقيلك أقرب مكان موثوق، يحجزلك في دقيقة، ويقولك السعر الأول — من غير لف ولا دوران.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931920" y="3886200"/>
            <a:ext cx="7708392" cy="2377440"/>
          </a:xfrm>
          <a:prstGeom prst="roundRect">
            <a:avLst>
              <a:gd name="adj" fmla="val 5385"/>
            </a:avLst>
          </a:prstGeom>
          <a:solidFill>
            <a:srgbClr val="0A5A5A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06240" y="4069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الوعد الأساسي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06240" y="43891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«مش هتتغش»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206240" y="54406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FE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 واضح، أماكن متقيّمة، وصيانة متسجّلة. اطمن، إحنا ماسكينها.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الشخصية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الصاحب الجدع</a:t>
            </a:r>
            <a:endParaRPr lang="en-US" sz="3000" dirty="0"/>
          </a:p>
        </p:txBody>
      </p:sp>
      <p:pic>
        <p:nvPicPr>
          <p:cNvPr id="4" name="Image 0" descr="/sessions/nice-laughing-cannon/mnt/outputs/brand/mascot_v3/osta_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743200"/>
            <a:ext cx="3291840" cy="31382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1737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أسطى كان شخص، يكون صاحبك الجدع: بيسندك، صادق معاك، خفيف دم، وبيفهمك من نص كلمة.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0" y="269748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0" y="2770632"/>
            <a:ext cx="420624" cy="420624"/>
          </a:xfrm>
          <a:prstGeom prst="ellipse">
            <a:avLst/>
          </a:prstGeom>
          <a:solidFill>
            <a:srgbClr val="FCEF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184" y="28712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27523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جدع وبيسندك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14800" y="3374136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0" y="3447288"/>
            <a:ext cx="420624" cy="420624"/>
          </a:xfrm>
          <a:prstGeom prst="ellipse">
            <a:avLst/>
          </a:prstGeom>
          <a:solidFill>
            <a:srgbClr val="FCEF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35478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9768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صادق وواضح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114800" y="4050792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29600" y="4123944"/>
            <a:ext cx="420624" cy="420624"/>
          </a:xfrm>
          <a:prstGeom prst="ellipse">
            <a:avLst/>
          </a:prstGeom>
          <a:solidFill>
            <a:srgbClr val="FCEFE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422452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97680" y="41056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خفيف ومرِح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114800" y="4727448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9600" y="4800600"/>
            <a:ext cx="420624" cy="420624"/>
          </a:xfrm>
          <a:prstGeom prst="ellipse">
            <a:avLst/>
          </a:prstGeom>
          <a:solidFill>
            <a:srgbClr val="FCEFE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4901184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97680" y="4782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 وسريع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114800" y="5404104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229600" y="5477256"/>
            <a:ext cx="420624" cy="420624"/>
          </a:xfrm>
          <a:prstGeom prst="ellipse">
            <a:avLst/>
          </a:prstGeom>
          <a:solidFill>
            <a:srgbClr val="FCEFE0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557784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297680" y="5458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بيفهمك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457200" y="5440680"/>
            <a:ext cx="3383280" cy="868680"/>
          </a:xfrm>
          <a:prstGeom prst="roundRect">
            <a:avLst>
              <a:gd name="adj" fmla="val 14737"/>
            </a:avLst>
          </a:prstGeom>
          <a:solidFill>
            <a:srgbClr val="FFB02E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640080" y="5532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بنتكلم زي صاحبك،</a:t>
            </a:r>
            <a:endParaRPr lang="en-US" sz="15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زي شركة.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نبرة الصوت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بنتكلم كده… مش كده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72200" y="1737360"/>
            <a:ext cx="5468112" cy="4572000"/>
          </a:xfrm>
          <a:prstGeom prst="roundRect">
            <a:avLst>
              <a:gd name="adj" fmla="val 2800"/>
            </a:avLst>
          </a:prstGeom>
          <a:solidFill>
            <a:srgbClr val="EAF7F2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A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r" indent="0" marL="0">
              <a:buNone/>
            </a:pPr>
            <a:r>
              <a:rPr lang="en-US" sz="1800" b="1" dirty="0">
                <a:solidFill>
                  <a:srgbClr val="0A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بنتكلم كده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4688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«اطمن، عربيتك في إيد كويسة.»</a:t>
            </a:r>
            <a:endParaRPr lang="en-US" sz="1400" dirty="0"/>
          </a:p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«دوّر، احجز، وسيبها علينا.»</a:t>
            </a:r>
            <a:endParaRPr lang="en-US" sz="1400" dirty="0"/>
          </a:p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«السعر ده شامل كل حاجة — مفيش مفاجآت.»</a:t>
            </a:r>
            <a:endParaRPr lang="en-US" sz="1400" dirty="0"/>
          </a:p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«قربت صيانتك، نحجزلك؟»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68112" cy="4572000"/>
          </a:xfrm>
          <a:prstGeom prst="roundRect">
            <a:avLst>
              <a:gd name="adj" fmla="val 2800"/>
            </a:avLst>
          </a:prstGeom>
          <a:solidFill>
            <a:srgbClr val="FBECEC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4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pPr algn="r" indent="0" marL="0">
              <a:buNone/>
            </a:pPr>
            <a:r>
              <a:rPr lang="en-US" sz="1800" b="1" dirty="0">
                <a:solidFill>
                  <a:srgbClr val="B54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بنتكلم كده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«نقدّم خدمات صيانة احترافية وفق أعلى المعايير.»</a:t>
            </a:r>
            <a:endParaRPr lang="en-US" sz="1400" dirty="0"/>
          </a:p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«يرجى تحديد الخدمة المطلوبة من القائمة.»</a:t>
            </a:r>
            <a:endParaRPr lang="en-US" sz="1400" dirty="0"/>
          </a:p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«تطبيق رائد في مجال خدمات السيارات.»</a:t>
            </a:r>
            <a:endParaRPr lang="en-US" sz="1400" dirty="0"/>
          </a:p>
          <a:p>
            <a:pPr algn="r"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«عميلنا العزيز، نحيطكم علمًا بأنه…»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عيّنات كلام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إزاي أسطى بيكلّمك جوّه التطبيق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63640" y="1737360"/>
            <a:ext cx="5376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FFB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37960" y="23042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«يا باشا، عربيتك قرّبت تعمل صيانة، احجز في دقيقة واطمن.»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5376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زرار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23042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«احجز دلوقتي» · «دوّر على أقرب أسطى» · «اطمن، احنا ماسكينها»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63640" y="3218688"/>
            <a:ext cx="5376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3447288"/>
            <a:ext cx="548640" cy="548640"/>
          </a:xfrm>
          <a:prstGeom prst="ellipse">
            <a:avLst/>
          </a:prstGeom>
          <a:solidFill>
            <a:srgbClr val="27C9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5844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34198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7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عربيات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537960" y="378561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«لسه مضفتش عربيتك؟ ضيفها وخلّينا نظبّطلك كل حاجة.»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218688"/>
            <a:ext cx="5376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447288"/>
            <a:ext cx="548640" cy="54864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844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4198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حصل خطأ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" y="378561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«حصل خطأ بسيط، جرّب تاني وإحنا معاك.»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263640" y="4700016"/>
            <a:ext cx="5376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92240" y="4928616"/>
            <a:ext cx="548640" cy="548640"/>
          </a:xfrm>
          <a:prstGeom prst="ellipse">
            <a:avLst/>
          </a:prstGeom>
          <a:solidFill>
            <a:srgbClr val="0A8A5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06577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4901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A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نجاح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537960" y="52669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«تمام! حجزك اتأكد، والأسطى مستنّيك.»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4700016"/>
            <a:ext cx="5376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7240" y="4928616"/>
            <a:ext cx="548640" cy="548640"/>
          </a:xfrm>
          <a:prstGeom prst="ellipse">
            <a:avLst/>
          </a:prstGeom>
          <a:solidFill>
            <a:srgbClr val="0A5A5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06577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63040" y="4901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22960" y="52669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«السعر من 250 لـ 400 جنيه — هتعرفه كله قبل ما تأكد.»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 والقيم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بنكلّم مين… وبنؤمن بإيه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97280"/>
          </a:xfrm>
          <a:prstGeom prst="roundRect">
            <a:avLst>
              <a:gd name="adj" fmla="val 11667"/>
            </a:avLst>
          </a:prstGeom>
          <a:solidFill>
            <a:srgbClr val="0A5A5A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الجمهور:  </a:t>
            </a:r>
            <a:pPr algn="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أصحاب العربيات العاديين في مصر — أي حد عنده عربية ونفسه يصونها صح، من غير وجع دماغ ولا غش.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079992" y="306324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48672" y="3337560"/>
            <a:ext cx="914400" cy="914400"/>
          </a:xfrm>
          <a:prstGeom prst="ellipse">
            <a:avLst/>
          </a:prstGeom>
          <a:solidFill>
            <a:srgbClr val="FFB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2" y="35661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17152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شفافية في السعر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262872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تعرف السعر الأول، مفيش مفاجآت.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06324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86600" y="3337560"/>
            <a:ext cx="914400" cy="914400"/>
          </a:xfrm>
          <a:prstGeom prst="ellipse">
            <a:avLst/>
          </a:prstGeom>
          <a:solidFill>
            <a:srgbClr val="27C9A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508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بساطة وسهولة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حاجة بضغطة، مفيش تعقيد.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55848" y="306324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24528" y="333756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5661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93008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ثقة وأمان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538728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أماكن موثّقة ومتقيّمة من ناس زيّك.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93776" y="306324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362456" y="3337560"/>
            <a:ext cx="914400" cy="91440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6" y="35661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0936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وراحة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76656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تحجز وتخلّص بسرعة، واطمن.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اللوجو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اللوجو واستخدامه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83080"/>
            <a:ext cx="560527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5" name="Image 0" descr="/sessions/nice-laughing-cannon/mnt/outputs/brand/png/osta_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331720"/>
            <a:ext cx="4023360" cy="12070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4206240"/>
            <a:ext cx="5605272" cy="2103120"/>
          </a:xfrm>
          <a:prstGeom prst="roundRect">
            <a:avLst>
              <a:gd name="adj" fmla="val 608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7" name="Image 1" descr="/sessions/nice-laughing-cannon/mnt/outputs/brand/png/osta_locku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54880"/>
            <a:ext cx="4023360" cy="12070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783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النسخة الأساسية على خلفية فاتحة، والنسخة البيضا على خلفية تركواز/غامقة.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BECEC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74920" y="2816352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291693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26883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متغيّرش لون الابتسامة البرتقالي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520440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BECEC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074920" y="3685032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378561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355701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متمططش اللوجو ولا تميله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4389120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BECEC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074920" y="4553712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4654296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" y="44256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متحطّش إفكتات أو ظل تقيل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548640" y="5257800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BECEC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074920" y="5422392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552297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" y="52943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سيب مسافة حوالين اللوجو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الماسكوت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المبتسمة — نظام حالات للـ 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82712" y="1691640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5" name="Image 0" descr="/sessions/nice-laughing-cannon/mnt/outputs/brand/mascot_v3/osta_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2" y="1783080"/>
            <a:ext cx="1691640" cy="16126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11312" y="1947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سعيد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65592" y="3172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الافتراضي · ترحيب وشاشات فاضية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61104" y="1691640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9" name="Image 1" descr="/sessions/nice-laughing-cannon/mnt/outputs/brand/mascot_v3/osta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783080"/>
            <a:ext cx="1691640" cy="16126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9704" y="1947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بيدوّر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43984" y="3172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البحث عن مراكز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39496" y="1691640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13" name="Image 2" descr="/sessions/nice-laughing-cannon/mnt/outputs/brand/mascot_v3/osta_loa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783080"/>
            <a:ext cx="1691640" cy="16126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1947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بيلوّد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22376" y="3172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التحميل والانتظار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982712" y="3904488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17" name="Image 3" descr="/sessions/nice-laughing-cannon/mnt/outputs/brand/mascot_v3/osta_succ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112" y="3995928"/>
            <a:ext cx="1691640" cy="161269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11312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نجاح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165592" y="538581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الحجز والإنجازات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261104" y="3904488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21" name="Image 4" descr="/sessions/nice-laughing-cannon/mnt/outputs/brand/mascot_v3/osta_err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3995928"/>
            <a:ext cx="1691640" cy="161269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89704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معلش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443984" y="538581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الخطأ بلطف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39496" y="3904488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25" name="Image 5" descr="/sessions/nice-laughing-cannon/mnt/outputs/brand/mascot_v3/osta_think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3896" y="3995928"/>
            <a:ext cx="1691640" cy="161269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بيفكّر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22376" y="538581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اقتراحات وتلميحات ذكية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ماسكوت واحد بتعبيرات كتير — يدّي البراند روح ودودة في كل شاشة، من غير ما يزحم المعلومة المهمة.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الألوان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بالتة دافية ومرحة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15984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53144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تركواز · أساسي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53144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#0E7C7B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0488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A5A5A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27648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تركواز غامق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27648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#0A5A5A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B02E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02152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برتقالي · أكشن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02152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#FFB02E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7A59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مرجاني · مرح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656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#FF7A59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15984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D24C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53144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أصفر · هايلايت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53144" y="5303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#FFD24C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27C9A0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27648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نعناعي · نجاح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27648" y="5303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#27C9A0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4992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CEFE0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02152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كريمي · خلفية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502152" y="5303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#FCEFE0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" y="3931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262B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حبر · نص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656" y="5303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#14262B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التركواز أساس الثقة، البرتقالي للأكشن، والمرجاني/الأصفر للمرح. النعناعي للنجاح، والكريمي خلفية دافية بدل الأبيض.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83080"/>
            <a:ext cx="5605272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— Cairo / Tajawal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2468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6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أسطى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309360" y="3657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· نص · زرار — هندسي ونضيف ويتقري بسهولة، ويشتغل RTL تمام.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4480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اطمن، عربيتك في إيد كويسة.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دوّر · احجز · اطمن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Latin — Poppins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14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Osta</a:t>
            </a:r>
            <a:endParaRPr lang="en-US" sz="70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AaBbCc · 0123456789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B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· Book · Relax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7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Geometric, friendly, modern.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 شغّالة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743200" cy="4480560"/>
          </a:xfrm>
          <a:prstGeom prst="roundRect">
            <a:avLst>
              <a:gd name="adj" fmla="val 6667"/>
            </a:avLst>
          </a:prstGeom>
          <a:solidFill>
            <a:srgbClr val="14262B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2340864" cy="3931920"/>
          </a:xfrm>
          <a:prstGeom prst="roundRect">
            <a:avLst>
              <a:gd name="adj" fmla="val 4688"/>
            </a:avLst>
          </a:prstGeom>
          <a:solidFill>
            <a:srgbClr val="FFF7EE"/>
          </a:solidFill>
          <a:ln/>
        </p:spPr>
      </p:sp>
      <p:pic>
        <p:nvPicPr>
          <p:cNvPr id="6" name="Image 0" descr="/sessions/nice-laughing-cannon/mnt/outputs/brand/mascot_v3/osta_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194560"/>
            <a:ext cx="1609344" cy="1536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أهلاً يا باشا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A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عايز تظبّط عربيتك؟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438912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FB02E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389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دوّر على أقرب أسطى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51560" y="50292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5029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اطمن، احنا ماسكينها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0" y="1783080"/>
            <a:ext cx="795528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14" name="Image 1" descr="/sessions/nice-laughing-cannon/mnt/outputs/brand/png/Osta_ap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01168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3776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أسطى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3776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يا باشا، عربيتك قرّبت تعمل صيانة، احجز في دقيقة واطمن.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657600" y="3337560"/>
            <a:ext cx="3886200" cy="2926080"/>
          </a:xfrm>
          <a:prstGeom prst="roundRect">
            <a:avLst>
              <a:gd name="adj" fmla="val 4375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pic>
        <p:nvPicPr>
          <p:cNvPr id="18" name="Image 2" descr="/sessions/nice-laughing-cannon/mnt/outputs/brand/mascot_v3/osta_su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346704"/>
            <a:ext cx="1828800" cy="1743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52486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عربيتك؟ تمام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3840480" y="5760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D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دوّر · احجز · اطمن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726680" y="3337560"/>
            <a:ext cx="3886200" cy="2926080"/>
          </a:xfrm>
          <a:prstGeom prst="roundRect">
            <a:avLst>
              <a:gd name="adj" fmla="val 4375"/>
            </a:avLst>
          </a:prstGeom>
          <a:solidFill>
            <a:srgbClr val="FFB02E"/>
          </a:solidFill>
          <a:ln/>
          <a:effectLst>
            <a:outerShdw sx="100000" sy="100000" kx="0" ky="0" algn="bl" rotWithShape="0" blurRad="127000" dist="38100" dir="5400000">
              <a:srgbClr val="D9C9B5">
                <a:alpha val="5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95528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9A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55280" y="39319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بطّل قلق على عربيتك.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7955280" y="4937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4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أقرب أسطى موثوق، بسعر واضح، وبضغطة. مش هتتغش تاني.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C6B6B"/>
          </a:solidFill>
          <a:ln/>
        </p:spPr>
      </p:sp>
      <p:pic>
        <p:nvPicPr>
          <p:cNvPr id="3" name="Image 0" descr="/sessions/nice-laughing-cannon/mnt/outputs/brand/mascot_v3/osta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658368"/>
            <a:ext cx="2743200" cy="2615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101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أسطى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548640" y="43708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الأسطى بتاعك في جيبك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CFE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دوّر · احجز · اطمن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أسطى · Osta — Brand Book</dc:title>
  <dc:subject>PptxGenJS Presentation</dc:subject>
  <dc:creator>Dpharma-IT</dc:creator>
  <cp:lastModifiedBy>Dpharma-IT</cp:lastModifiedBy>
  <cp:revision>1</cp:revision>
  <dcterms:created xsi:type="dcterms:W3CDTF">2026-06-13T16:55:27Z</dcterms:created>
  <dcterms:modified xsi:type="dcterms:W3CDTF">2026-06-13T16:55:27Z</dcterms:modified>
</cp:coreProperties>
</file>