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السوق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2026</c:v>
                  </c:pt>
                  <c:pt idx="2">
                    <c:v>2028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1.9</c:v>
                </c:pt>
                <c:pt idx="2">
                  <c:v>2.2</c:v>
                </c:pt>
                <c:pt idx="3">
                  <c:v>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73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التغطية</c:v>
                </c:pt>
              </c:strCache>
            </c:strRef>
          </c:tx>
          <c:spPr>
            <a:solidFill>
              <a:srgbClr val="FFB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جراجي</c:v>
                  </c:pt>
                  <c:pt idx="1">
                    <c:v>Mismar</c:v>
                  </c:pt>
                  <c:pt idx="2">
                    <c:v>Mtor</c:v>
                  </c:pt>
                  <c:pt idx="3">
                    <c:v>Drop</c:v>
                  </c:pt>
                  <c:pt idx="4">
                    <c:v>الإنقاذ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حجوزات/شهر</c:v>
                </c:pt>
              </c:strCache>
            </c:strRef>
          </c:tx>
          <c:spPr>
            <a:solidFill>
              <a:srgbClr val="FFB02E"/>
            </a:solidFill>
            <a:ln w="38100" cap="flat">
              <a:solidFill>
                <a:srgbClr val="FFB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02E"/>
              </a:solidFill>
              <a:ln w="9525" cap="flat">
                <a:solidFill>
                  <a:srgbClr val="FFB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ش1</c:v>
                  </c:pt>
                  <c:pt idx="1">
                    <c:v>ش2</c:v>
                  </c:pt>
                  <c:pt idx="2">
                    <c:v>ش3</c:v>
                  </c:pt>
                  <c:pt idx="3">
                    <c:v>ش4</c:v>
                  </c:pt>
                  <c:pt idx="4">
                    <c:v>ش5</c:v>
                  </c:pt>
                  <c:pt idx="5">
                    <c:v>ش6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140</c:v>
                </c:pt>
                <c:pt idx="2">
                  <c:v>260</c:v>
                </c:pt>
                <c:pt idx="3">
                  <c:v>380</c:v>
                </c:pt>
                <c:pt idx="4">
                  <c:v>520</c:v>
                </c:pt>
                <c:pt idx="5">
                  <c:v>720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Supabase</c:v>
                </c:pt>
              </c:strCache>
            </c:strRef>
          </c:tx>
          <c:spPr>
            <a:solidFill>
              <a:srgbClr val="0E7C7B"/>
            </a:solidFill>
            <a:ln w="2540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جيو</c:v>
                  </c:pt>
                  <c:pt idx="1">
                    <c:v>ريل تايم</c:v>
                  </c:pt>
                  <c:pt idx="2">
                    <c:v>سرعة التنفيذ</c:v>
                  </c:pt>
                  <c:pt idx="3">
                    <c:v>الأدمن</c:v>
                  </c:pt>
                  <c:pt idx="4">
                    <c:v>الدفع المحلي</c:v>
                  </c:pt>
                  <c:pt idx="5">
                    <c:v>التكلفة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3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Firebase</c:v>
                </c:pt>
              </c:strCache>
            </c:strRef>
          </c:tx>
          <c:spPr>
            <a:solidFill>
              <a:srgbClr val="FF6B6B"/>
            </a:solidFill>
            <a:ln w="25400" cap="flat">
              <a:solidFill>
                <a:srgbClr val="FF6B6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جيو</c:v>
                  </c:pt>
                  <c:pt idx="1">
                    <c:v>ريل تايم</c:v>
                  </c:pt>
                  <c:pt idx="2">
                    <c:v>سرعة التنفيذ</c:v>
                  </c:pt>
                  <c:pt idx="3">
                    <c:v>الأدمن</c:v>
                  </c:pt>
                  <c:pt idx="4">
                    <c:v>الدفع المحلي</c:v>
                  </c:pt>
                  <c:pt idx="5">
                    <c:v>التكلفة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Laravel</c:v>
                </c:pt>
              </c:strCache>
            </c:strRef>
          </c:tx>
          <c:spPr>
            <a:solidFill>
              <a:srgbClr val="FFB02E"/>
            </a:solidFill>
            <a:ln w="25400" cap="flat">
              <a:solidFill>
                <a:srgbClr val="FFB02E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B02E"/>
              </a:solidFill>
              <a:ln w="9525" cap="flat">
                <a:solidFill>
                  <a:srgbClr val="FFB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جيو</c:v>
                  </c:pt>
                  <c:pt idx="1">
                    <c:v>ريل تايم</c:v>
                  </c:pt>
                  <c:pt idx="2">
                    <c:v>سرعة التنفيذ</c:v>
                  </c:pt>
                  <c:pt idx="3">
                    <c:v>الأدمن</c:v>
                  </c:pt>
                  <c:pt idx="4">
                    <c:v>الدفع المحلي</c:v>
                  </c:pt>
                  <c:pt idx="5">
                    <c:v>التكلفة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bubble3D val="0"/>
            <c:spPr>
              <a:solidFill>
                <a:srgbClr val="17A2A2"/>
              </a:solidFill>
              <a:effectLst/>
            </c:spPr>
          </c:dPt>
          <c:dPt>
            <c:idx val="2"/>
            <c:bubble3D val="0"/>
            <c:spPr>
              <a:solidFill>
                <a:srgbClr val="FFB02E"/>
              </a:solidFill>
              <a:effectLst/>
            </c:spPr>
          </c:dPt>
          <c:dPt>
            <c:idx val="3"/>
            <c:bubble3D val="0"/>
            <c:spPr>
              <a:solidFill>
                <a:srgbClr val="7FC4C4"/>
              </a:solidFill>
              <a:effectLst/>
            </c:spPr>
          </c:dPt>
          <c:dPt>
            <c:idx val="4"/>
            <c:bubble3D val="0"/>
            <c:spPr>
              <a:solidFill>
                <a:srgbClr val="2BB67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عمولة الحجز</c:v>
                </c:pt>
                <c:pt idx="1">
                  <c:v>اشتراك المراكز</c:v>
                </c:pt>
                <c:pt idx="2">
                  <c:v>شارة موثّق</c:v>
                </c:pt>
                <c:pt idx="3">
                  <c:v>عروض وإعلانات</c:v>
                </c:pt>
                <c:pt idx="4">
                  <c:v>شراكات الإنقاذ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B2027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افتتاحية: CarCare منتج قوي باسم عام. بنرشّح تغييره لـ جراجي، ونحدد فجوة السوق المصري، ونظبط الـ MVP، ونرشّح الباك إند. الخلاصة: جراجي + اكتشاف موثوق على الخريطة + Supabase مع لوحة Laravel·Filament.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6-image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1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ce-laughing-cannon/mnt/outputs/brand/png/icon_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64008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جراجي</a:t>
            </a:r>
            <a:endParaRPr lang="en-US" sz="7400" dirty="0"/>
          </a:p>
        </p:txBody>
      </p:sp>
      <p:sp>
        <p:nvSpPr>
          <p:cNvPr id="4" name="Shape 1"/>
          <p:cNvSpPr/>
          <p:nvPr/>
        </p:nvSpPr>
        <p:spPr>
          <a:xfrm>
            <a:off x="10561320" y="3310128"/>
            <a:ext cx="1051560" cy="54864"/>
          </a:xfrm>
          <a:prstGeom prst="rect">
            <a:avLst/>
          </a:prstGeom>
          <a:solidFill>
            <a:srgbClr val="FFB02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4564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تغيير الهوية واستراتيجية المنتج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463040" y="43891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2E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وهوية جديدة لمشروع التخرّج «CarCare» — مع فجوة السوق، خطة MVP واضحة، وترشيح للباك إند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F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مُعدّ لـ Dpharma-IT  ·  يونيو 2026  ·  السوق: مصر  ·  بالعربي المصري</a:t>
            </a:r>
            <a:endParaRPr lang="en-US" sz="1200" dirty="0"/>
          </a:p>
        </p:txBody>
      </p:sp>
      <p:pic>
        <p:nvPicPr>
          <p:cNvPr id="8" name="Image 1" descr="/sessions/nice-laughing-cannon/mnt/outputs/brand/png/appicon_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0"/>
            <a:ext cx="1280160" cy="1280160"/>
          </a:xfrm>
          <a:prstGeom prst="rect">
            <a:avLst/>
          </a:prstGeom>
        </p:spPr>
      </p:pic>
      <p:pic>
        <p:nvPicPr>
          <p:cNvPr id="9" name="Image 2" descr="/sessions/nice-laughing-cannon/mnt/outputs/brand/png/appicon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5349240"/>
            <a:ext cx="914400" cy="914400"/>
          </a:xfrm>
          <a:prstGeom prst="rect">
            <a:avLst/>
          </a:prstGeom>
        </p:spPr>
      </p:pic>
      <p:pic>
        <p:nvPicPr>
          <p:cNvPr id="10" name="Image 3" descr="/sessions/nice-laughing-cannon/mnt/outputs/brand/png/appicon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53492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BF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كلها في سطر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55080" y="1691640"/>
            <a:ext cx="52852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97312" y="2011680"/>
            <a:ext cx="822960" cy="82296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593" y="2200961"/>
            <a:ext cx="444398" cy="4443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29400" y="26060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جراجي (جراجك في جيبك) — واضح بالعربي والإنجليزي وسهل تملكه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52852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2011680"/>
            <a:ext cx="822960" cy="82296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153" y="2200961"/>
            <a:ext cx="444398" cy="4443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الهوية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822960" y="26060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دبوس خريطة جوّاه عربية + علامة صح برتقالي = «موثّق»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55080" y="3977640"/>
            <a:ext cx="52852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497312" y="4297680"/>
            <a:ext cx="822960" cy="82296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593" y="4486961"/>
            <a:ext cx="444398" cy="4443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4343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الميزة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629400" y="48920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الخريطة الأول، أماكن موثوقة، حجز فوري، وذاكرة صيانة لكل عربية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52852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90872" y="4297680"/>
            <a:ext cx="822960" cy="82296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153" y="4486961"/>
            <a:ext cx="444398" cy="4443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343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الباك إند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822960" y="48920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أساس + لوحة Laravel·Filament؛ وFirebase للإشعارات بس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ليه نغيّر الاسم؟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جامد… بس اسمه مستهلك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جراجي</a:t>
            </a:r>
            <a:pPr algn="r" indent="0" marL="0">
              <a:buNone/>
            </a:pPr>
            <a:r>
              <a:rPr lang="en-US" sz="32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r" indent="0" marL="0">
              <a:buNone/>
            </a:pPr>
            <a:r>
              <a:rPr lang="en-US" sz="3200" b="1" strike="sngStrike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CarCare</a:t>
            </a:r>
            <a:endParaRPr lang="en-US" sz="3200" dirty="0"/>
          </a:p>
        </p:txBody>
      </p:sp>
      <p:pic>
        <p:nvPicPr>
          <p:cNvPr id="5" name="Image 0" descr="/sessions/nice-laughing-cannon/mnt/outputs/brand/png/icon_A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65592" y="2697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451592" y="3017520"/>
            <a:ext cx="868680" cy="86868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388" y="3217316"/>
            <a:ext cx="469087" cy="4690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85632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وصفي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485632" y="455371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صعب تسجّله كعلامة أو تطلّعه في متاجر التطبيقات — «CarCare» تصنيف مش براند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61688" y="2697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47688" y="3017520"/>
            <a:ext cx="868680" cy="86868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484" y="3217316"/>
            <a:ext cx="469087" cy="4690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مكرر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681728" y="455371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مستخدم في محلات وتطبيقات كتير حوالين العالم — هتتخانق على كل سيرش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57784" y="2697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43784" y="3017520"/>
            <a:ext cx="868680" cy="86868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580" y="3217316"/>
            <a:ext cx="469087" cy="46908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824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مبيوصّلش الفكرة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77824" y="455371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مبيقولش إن المنتج اكتشاف موثوق على الخريطة + حجز + ذاكرة للعربية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المفروض يشتغل بالعربي والإنجليزي، قصير وسهل تملكه، ويلمّح لروح المنتج — عربيتك، متظبّطة، وقريّبة منك.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السوق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ضخم وأوفلاين — محدش نظّمه على أساس الثقة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79992" y="17373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25712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مليون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217152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عربية ملاكي (≈10.4 مليون مركبة)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1.5–1.6 مليار $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35508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ما بعد البيع 2024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17373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01568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~35,000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493008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ورشة ومركز خدمة، أغلبها أوفلاين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3776" y="17373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+600 $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30936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صرف العربية في السنة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3657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سوق ما بعد البيع (مليار $)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126480" y="4023360"/>
          <a:ext cx="55778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365760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0A4F50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3977640"/>
            <a:ext cx="868680" cy="868680"/>
          </a:xfrm>
          <a:prstGeom prst="ellipse">
            <a:avLst/>
          </a:prstGeom>
          <a:solidFill>
            <a:srgbClr val="083E3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796" y="4177436"/>
            <a:ext cx="469087" cy="46908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7724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الفرصة مش «تطبيق عربيات تاني»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77240" y="48006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الفرصة إنك تبقى طبقة الثقة بين ملايين السواقين وعشرات الآلاف من الورش — الحلقة الناقصة اللي لسه مش موجودة.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المصادر: TechSci / GMI لأبحاث السوق + بيانات أسطول المركبات — مفصّلة في ملحق التقرير.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السوق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واحد ماسك حارة — والنص الموثوق فاضي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65592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39912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Mtor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439912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قطع غيار (B2B)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39912" y="28072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قطع + أب للميكانيكي. مفيش اكتشاف أو حجز للعميل.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6008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636008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غسيل وصيانة عند الطلب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36008" y="28072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غسيل بيتي + حجز إصلاح. خدمات، مش اكتشاف مرتّب بالثقة.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32104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تجميع مزوّدي خدمة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" y="28072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بيوصّل العميل بمراكز. مفيش خريطة-أول ولا ترتيب حسب عربيتك.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65592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39912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MAYDAY · Beliaa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39912" y="47000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إنقاذ على الطريق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39912" y="50474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طوارئ بس — مش صيانة مخطط لها ولا حجز.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61688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36008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Petromin · Nacita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636008" y="47000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سلاسل خدمة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36008" y="50474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مزوّد واحد — مش سوق مفتوح تقارن فيه.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104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+ Google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32104" y="47000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قوايم ثابتة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" y="504748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أسماء وتليفونات. مفيش توثيق ولا سعر عادل ولا حجز.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BF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الفجوة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الحاجة اللي محدش بيعملها صح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0" y="1691640"/>
            <a:ext cx="5605272" cy="1783080"/>
          </a:xfrm>
          <a:prstGeom prst="roundRect">
            <a:avLst>
              <a:gd name="adj" fmla="val 6154"/>
            </a:avLst>
          </a:prstGeom>
          <a:solidFill>
            <a:srgbClr val="083E3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0" y="182880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DF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«مش عارف أوديها لمين قريّب مني وأثق فيه </a:t>
            </a:r>
            <a:pPr algn="r"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لعربيتي بالذات</a:t>
            </a:r>
            <a:pPr algn="r"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DF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وبسعر عادل — ومفيش عندي سجل للي اتعمل فيها.»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«الحارات» اللي بيغطيها كل لاعب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05740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8165592" y="4526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43032" y="4800600"/>
            <a:ext cx="822960" cy="82296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313" y="4989881"/>
            <a:ext cx="444398" cy="4443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39912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ثقة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439912" y="5486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الميكانيكي ده أمين وشاطر؟ شارات + تقييمات حقيقية + توثيق.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61688" y="4526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739128" y="4800600"/>
            <a:ext cx="822960" cy="82296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409" y="4989881"/>
            <a:ext cx="444398" cy="4443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36008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مناسبة لعربيتك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636008" y="5486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بيفهم في الماركة/الموديل بتاعك وعنده القطع؟ ترشيح حسب عربيتك.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57784" y="4526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935224" y="4800600"/>
            <a:ext cx="822960" cy="82296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505" y="4989881"/>
            <a:ext cx="444398" cy="4443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ذاكرة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32104" y="5486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مفيش سجل صيانة دلوقتي — فالبيع والتخطيط بيتعبوا. جراجي بيفتكر.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الاسم الجديد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جراجي — جراجك في جيبك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2400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pic>
        <p:nvPicPr>
          <p:cNvPr id="5" name="Image 0" descr="/sessions/nice-laughing-cannon/mnt/outputs/brand/png/lockup_A_trans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148840"/>
            <a:ext cx="3566160" cy="1069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5080" y="3291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جراجي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355080" y="397764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«جراج» + ياء الملكية. بيتقري على طول إنه عربيات بالعربي والإنجليزي، ومعناه «جراجي أنا»، وبيربط بـ «الجراج» جوّا التطبيق اللي فيه عرباتك وتاريخها. قصير، دافي، وسهل تملكه.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55080" y="55778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اعرف · احجز · تابع</a:t>
            </a:r>
            <a:pPr algn="r" indent="0" marL="0">
              <a:buNone/>
            </a:pPr>
            <a:r>
              <a:rPr lang="en-US" sz="15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Find · Book · Track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بدايل قوية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238658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807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عايز تموضع «الثقة» الأول — معناها «السند اللي بتتكل عليه».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36210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MotorMap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4041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أوضح اختيار — الخريطة هي المنتج. وصفي، فصعب تملكه أكتر.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8006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0A4F50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296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الشعار وجملة الثقة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5303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«جراجك الموثوق على الخريطة»</a:t>
            </a:r>
            <a:endParaRPr lang="en-US" sz="14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trusted garage, on the map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الاسم الجديد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القايمة المختصرة — تشكيلة من 3 أنماط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65592" y="173736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DF4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39912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مبتكَر / سهل التملك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39912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الأكثر تميّزًا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39912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جراجي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39912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«جراجي» · مرشّح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39912" y="3867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Revvo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39912" y="4279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«رفّ» الموتور · حماسي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39912" y="4946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Motary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39912" y="53583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«موتور» + ياء · منصّة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61688" y="173736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جذور عربية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36008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قريب ومبني على الثقة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36008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سَنَد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008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«السند اللي بتتكل عليه»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36008" y="3867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معلّم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36008" y="4279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«مَعلَم» + «المعلّم»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36008" y="4946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صنايعي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636008" y="53583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«الصنايعي» اللي بيظبطها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57784" y="173736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2104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إنجليزي وصفي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32104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واضح على طول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MotorMap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2104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الخريطة = المنتج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2104" y="3867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AutoPin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2104" y="4279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عربية + دبوس خريطة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2104" y="4946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PitStop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2104" y="53583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خدمة سريعة خبيرة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المرشّح: جراجي — واضح بالعربي والإنجليزي، سهل تملكه، وبيقوّي فكرة «الجراج» جوّا التطبيق.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اللوجو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واحدة، 3 اتجاهات — كلها حوالين علامة الصح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65592" y="1783080"/>
            <a:ext cx="3474720" cy="4160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31352" y="21031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3F7F7"/>
          </a:solidFill>
          <a:ln/>
        </p:spPr>
      </p:sp>
      <p:pic>
        <p:nvPicPr>
          <p:cNvPr id="6" name="Image 0" descr="/sessions/nice-laughing-cannon/mnt/outputs/brand/png/icon_A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2331720"/>
            <a:ext cx="1005840" cy="1005840"/>
          </a:xfrm>
          <a:prstGeom prst="rect">
            <a:avLst/>
          </a:prstGeom>
        </p:spPr>
      </p:pic>
      <p:pic>
        <p:nvPicPr>
          <p:cNvPr id="7" name="Image 1" descr="/sessions/nice-laughing-cannon/mnt/outputs/brand/png/appicon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2" y="3840480"/>
            <a:ext cx="1737360" cy="1737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85632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 · الدبوس + العربية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485632" y="5623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الخريطة الأول. دبوس فيه عربية + صح برتقالي = موثّق. (مرشّح)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61688" y="1783080"/>
            <a:ext cx="3474720" cy="4160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27448" y="21031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3F7F7"/>
          </a:solidFill>
          <a:ln/>
        </p:spPr>
      </p:sp>
      <p:pic>
        <p:nvPicPr>
          <p:cNvPr id="12" name="Image 2" descr="/sessions/nice-laughing-cannon/mnt/outputs/brand/png/icon_B_col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331720"/>
            <a:ext cx="1005840" cy="1005840"/>
          </a:xfrm>
          <a:prstGeom prst="rect">
            <a:avLst/>
          </a:prstGeom>
        </p:spPr>
      </p:pic>
      <p:pic>
        <p:nvPicPr>
          <p:cNvPr id="13" name="Image 3" descr="/sessions/nice-laughing-cannon/mnt/outputs/brand/png/appicon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3840480"/>
            <a:ext cx="1737360" cy="1737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81728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 · جيـج / مؤشّر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681728" y="5623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مونوجرام بسيط / مؤشّر صحة العربية. الأكثر «تك».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57784" y="1783080"/>
            <a:ext cx="3474720" cy="4160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23544" y="21031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3F7F7"/>
          </a:solidFill>
          <a:ln/>
        </p:spPr>
      </p:sp>
      <p:pic>
        <p:nvPicPr>
          <p:cNvPr id="18" name="Image 4" descr="/sessions/nice-laughing-cannon/mnt/outputs/brand/png/icon_C_col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2224" y="2331720"/>
            <a:ext cx="1005840" cy="1005840"/>
          </a:xfrm>
          <a:prstGeom prst="rect">
            <a:avLst/>
          </a:prstGeom>
        </p:spPr>
      </p:pic>
      <p:pic>
        <p:nvPicPr>
          <p:cNvPr id="19" name="Image 5" descr="/sessions/nice-laughing-cannon/mnt/outputs/brand/png/appicon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464" y="3840480"/>
            <a:ext cx="1737360" cy="17373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77824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 · الحضن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877824" y="5623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أقرب تطوير للوجو الحالي — عربية محضونة بإيدين.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اللوجو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الهوية</a:t>
            </a:r>
            <a:endParaRPr lang="en-US" sz="3000" dirty="0"/>
          </a:p>
        </p:txBody>
      </p:sp>
      <p:pic>
        <p:nvPicPr>
          <p:cNvPr id="4" name="Image 0" descr="/sessions/nice-laughing-cannon/mnt/outputs/brand/png/lockup_A_trans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4" y="1783080"/>
            <a:ext cx="4270248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3200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الألوان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561320" y="3611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A4F50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0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تركواز غامق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51560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#0A4F50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9482328" y="3611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9436608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تركواز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436608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#0E7C7B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8403336" y="3611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7A2A2"/>
          </a:solidFill>
          <a:ln/>
        </p:spPr>
      </p:sp>
      <p:sp>
        <p:nvSpPr>
          <p:cNvPr id="13" name="Text 10"/>
          <p:cNvSpPr/>
          <p:nvPr/>
        </p:nvSpPr>
        <p:spPr>
          <a:xfrm>
            <a:off x="8357616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فاتح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357616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#17A2A2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324344" y="3611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B02E"/>
          </a:solidFill>
          <a:ln/>
        </p:spPr>
      </p:sp>
      <p:sp>
        <p:nvSpPr>
          <p:cNvPr id="16" name="Text 13"/>
          <p:cNvSpPr/>
          <p:nvPr/>
        </p:nvSpPr>
        <p:spPr>
          <a:xfrm>
            <a:off x="7278624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برتقالي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278624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#FFB02E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245352" y="3611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B2027"/>
          </a:solidFill>
          <a:ln/>
        </p:spPr>
      </p:sp>
      <p:sp>
        <p:nvSpPr>
          <p:cNvPr id="19" name="Text 16"/>
          <p:cNvSpPr/>
          <p:nvPr/>
        </p:nvSpPr>
        <p:spPr>
          <a:xfrm>
            <a:off x="6199632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حبر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99632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#0B2027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400800" y="5257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البرتقالي بيتستخدم بس في علامة «موثّق» والأكشن الأساسي — عشان يفضل معبّر.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178308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الخطوط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2296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إنجليزي — Poppins.  </a:t>
            </a:r>
            <a:pPr algn="r" indent="0" marL="0"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هندسي، ودود، عصري.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 — Cairo / Tajawal.  </a:t>
            </a:r>
            <a:pPr algn="r" indent="0" marL="0"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رفيق RTL نضيف لـ «جراجي».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29200" y="3977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أيقونة التطبيق</a:t>
            </a:r>
            <a:endParaRPr lang="en-US" sz="1400" dirty="0"/>
          </a:p>
        </p:txBody>
      </p:sp>
      <p:pic>
        <p:nvPicPr>
          <p:cNvPr id="27" name="Image 1" descr="/sessions/nice-laughing-cannon/mnt/outputs/brand/png/appicon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389120"/>
            <a:ext cx="1188720" cy="1188720"/>
          </a:xfrm>
          <a:prstGeom prst="rect">
            <a:avLst/>
          </a:prstGeom>
        </p:spPr>
      </p:pic>
      <p:pic>
        <p:nvPicPr>
          <p:cNvPr id="28" name="Image 2" descr="/sessions/nice-laughing-cannon/mnt/outputs/brand/png/appicon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389120"/>
            <a:ext cx="1188720" cy="1188720"/>
          </a:xfrm>
          <a:prstGeom prst="rect">
            <a:avLst/>
          </a:prstGeom>
        </p:spPr>
      </p:pic>
      <p:pic>
        <p:nvPicPr>
          <p:cNvPr id="29" name="Image 3" descr="/sessions/nice-laughing-cannon/mnt/outputs/brand/png/appicon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4389120"/>
            <a:ext cx="1188720" cy="118872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48640" y="571500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0A4F50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822960" y="58704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الشعار = دبوس + عربية + صح. متغيّرش لون الصح ولا تضيف إفكتات.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المميزات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طبقات — إسفين دلوقتي، وخندق بعدين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23848" y="1874520"/>
            <a:ext cx="9144000" cy="731520"/>
          </a:xfrm>
          <a:prstGeom prst="roundRect">
            <a:avLst>
              <a:gd name="adj" fmla="val 7500"/>
            </a:avLst>
          </a:prstGeom>
          <a:solidFill>
            <a:srgbClr val="FFB02E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25016" y="2057400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024" y="21214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46808" y="19476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الاكتشاف + الخريطة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346808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A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الإسفين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026768" y="274320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17A2A2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27936" y="2926080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4" y="29900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49728" y="28163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الحجز والعمليات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849728" y="31546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A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المحرك ذو الوجهين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529688" y="3611880"/>
            <a:ext cx="7132320" cy="731520"/>
          </a:xfrm>
          <a:prstGeom prst="roundRect">
            <a:avLst>
              <a:gd name="adj" fmla="val 7500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30856" y="3794760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864" y="38587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52648" y="36850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ذاكرة العربية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352648" y="4023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A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التكرار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032608" y="4480560"/>
            <a:ext cx="6126480" cy="731520"/>
          </a:xfrm>
          <a:prstGeom prst="roundRect">
            <a:avLst>
              <a:gd name="adj" fmla="val 7500"/>
            </a:avLst>
          </a:prstGeom>
          <a:solidFill>
            <a:srgbClr val="0C5A5A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33776" y="4663440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84" y="472744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855568" y="4553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الثقة والأمان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3855568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A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الخندق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535528" y="53492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0A4F50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736696" y="5532120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704" y="559612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58488" y="5422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 والمميزات المبهرة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358488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A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بعدين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6172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i="1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طبقة فوق اللي تحتها: نبدأ بالاكتشاف والحجز، وذاكرة العربية بتخلّي الناس ترجع، والثقة بتبني الخندق.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BF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طبقة الثقة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شارات واضحة — أساس المنتج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65592" y="19202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45752" y="2240280"/>
            <a:ext cx="914400" cy="914400"/>
          </a:xfrm>
          <a:prstGeom prst="ellipse">
            <a:avLst/>
          </a:prstGeom>
          <a:solidFill>
            <a:srgbClr val="FFB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44144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39912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1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معتمد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439912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85632" y="4206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معتمد رسميًا من وكيل أو ماركة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1688" y="19202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41848" y="2240280"/>
            <a:ext cx="914400" cy="914400"/>
          </a:xfrm>
          <a:prstGeom prst="ellipse">
            <a:avLst/>
          </a:prstGeom>
          <a:solidFill>
            <a:srgbClr val="17A2A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244144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1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موثّق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636008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81728" y="4206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جراجي راجع أوراقه وأكّده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57784" y="19202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837944" y="224028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112" y="244144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1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موصى به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32104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77824" y="4206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تقييمات قوية وتجارب حقيقية من الناس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DF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وراها خط توثيق في الأدمن + حل نزاعات + ضمان استرجاع الفلوس. بيانات التوثيق دي بتتراكم وصعب حد يقلّدها.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الـ MVP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أصغر حاجة تثبت الفكرة — في ~13 أسبوع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53912" y="173736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EEF9F4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A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اللي هيتعمل  </a:t>
            </a:r>
            <a:pPr algn="r" indent="0" marL="0">
              <a:buNone/>
            </a:pPr>
            <a:r>
              <a:rPr lang="en-US" sz="1800" b="1" dirty="0">
                <a:solidFill>
                  <a:srgbClr val="0A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251460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مدينة واحدة (القاهرة الكبرى) و50–100 مركز موثّق بإيدينا</a:t>
            </a:r>
            <a:endParaRPr lang="en-US" sz="1250" dirty="0"/>
          </a:p>
          <a:p>
            <a:pPr algn="r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الخريطة الأول: دبابيس، فلاتر، بحث، اتصال واتجاهات</a:t>
            </a:r>
            <a:endParaRPr lang="en-US" sz="1250" dirty="0"/>
          </a:p>
          <a:p>
            <a:pPr algn="r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بروفايلات موثّقة: شارات، أسعار واضحة، تقييمات</a:t>
            </a:r>
            <a:endParaRPr lang="en-US" sz="1250" dirty="0"/>
          </a:p>
          <a:p>
            <a:pPr algn="r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حجز كاملة: خدمة ← ميعاد ← تأكيد، مع حجز 10 دقايق</a:t>
            </a:r>
            <a:endParaRPr lang="en-US" sz="1250" dirty="0"/>
          </a:p>
          <a:p>
            <a:pPr algn="r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الدفع كاش الأول (من غير كروت دلوقتي)</a:t>
            </a:r>
            <a:endParaRPr lang="en-US" sz="1250" dirty="0"/>
          </a:p>
          <a:p>
            <a:pPr algn="r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الجراج + تسجيل صيانة تلقائي + تنبيهات بسيطة</a:t>
            </a:r>
            <a:endParaRPr lang="en-US" sz="1250" dirty="0"/>
          </a:p>
          <a:p>
            <a:pPr algn="r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المراكز: تسجيل، داشبورد، قبول/رفض، إنهاء</a:t>
            </a:r>
            <a:endParaRPr lang="en-US" sz="1250" dirty="0"/>
          </a:p>
          <a:p>
            <a:pPr algn="r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الأدمن: طابور التوثيق (لوحة Filament ويب)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BF1F1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 دلوقتي (مرحلة 2+)  </a:t>
            </a:r>
            <a:pPr algn="r" indent="0" marL="0">
              <a:buNone/>
            </a:pPr>
            <a:r>
              <a:rPr lang="en-US" sz="1800" b="1" dirty="0">
                <a:solidFill>
                  <a:srgbClr val="A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الدفع بالكروت، التحويلات، حساب العمولة</a:t>
            </a:r>
            <a:endParaRPr lang="en-US" sz="1250" dirty="0"/>
          </a:p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للعملاء، عروض، باقات اشتراك</a:t>
            </a:r>
            <a:endParaRPr lang="en-US" sz="1250" dirty="0"/>
          </a:p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تحليلات مصاريف/بنزين، سكور صحة، مستندات</a:t>
            </a:r>
            <a:endParaRPr lang="en-US" sz="1250" dirty="0"/>
          </a:p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إنقاذ الطريق والطوارئ والـ ETA المباشر</a:t>
            </a:r>
            <a:endParaRPr lang="en-US" sz="1250" dirty="0"/>
          </a:p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ماسح لمبات اللوحة + ماسح الخبط (AI)، OBD</a:t>
            </a:r>
            <a:endParaRPr lang="en-US" sz="1250" dirty="0"/>
          </a:p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قطع الغيار، مجتمع، مدن تانية، ويب</a:t>
            </a:r>
            <a:endParaRPr lang="en-US" sz="1250" dirty="0"/>
          </a:p>
          <a:p>
            <a:pPr algn="r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شات داخل التطبيق (نستخدم اتصال + SMS)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رحلة الحجز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الخريطة للحجز في خطوات بسيطة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51592" y="2377440"/>
            <a:ext cx="1737360" cy="1554480"/>
          </a:xfrm>
          <a:prstGeom prst="roundRect">
            <a:avLst>
              <a:gd name="adj" fmla="val 7059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54512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4" y="27706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43032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 الخريطة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0314432" y="3154680"/>
            <a:ext cx="137160" cy="0"/>
          </a:xfrm>
          <a:prstGeom prst="line">
            <a:avLst/>
          </a:prstGeom>
          <a:noFill/>
          <a:ln w="31750">
            <a:solidFill>
              <a:srgbClr val="FFB02E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8595360" y="2377440"/>
            <a:ext cx="1737360" cy="1554480"/>
          </a:xfrm>
          <a:prstGeom prst="roundRect">
            <a:avLst>
              <a:gd name="adj" fmla="val 7059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098280" y="260604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872" y="27706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 خدمة + فلتر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458200" y="3154680"/>
            <a:ext cx="137160" cy="0"/>
          </a:xfrm>
          <a:prstGeom prst="line">
            <a:avLst/>
          </a:prstGeom>
          <a:noFill/>
          <a:ln w="31750">
            <a:solidFill>
              <a:srgbClr val="FFB02E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739128" y="2377440"/>
            <a:ext cx="1737360" cy="1554480"/>
          </a:xfrm>
          <a:prstGeom prst="roundRect">
            <a:avLst>
              <a:gd name="adj" fmla="val 7059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42048" y="260604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7706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30568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شوف مركز موثّق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601968" y="3154680"/>
            <a:ext cx="137160" cy="0"/>
          </a:xfrm>
          <a:prstGeom prst="line">
            <a:avLst/>
          </a:prstGeom>
          <a:noFill/>
          <a:ln w="31750">
            <a:solidFill>
              <a:srgbClr val="FFB02E"/>
            </a:solidFill>
            <a:prstDash val="solid"/>
            <a:headEnd type="none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882896" y="2377440"/>
            <a:ext cx="1737360" cy="1554480"/>
          </a:xfrm>
          <a:prstGeom prst="roundRect">
            <a:avLst>
              <a:gd name="adj" fmla="val 7059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385816" y="260604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277063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74336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احجز ميعاد (10 دقايق)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745736" y="3154680"/>
            <a:ext cx="137160" cy="0"/>
          </a:xfrm>
          <a:prstGeom prst="line">
            <a:avLst/>
          </a:prstGeom>
          <a:noFill/>
          <a:ln w="31750">
            <a:solidFill>
              <a:srgbClr val="FFB02E"/>
            </a:solidFill>
            <a:prstDash val="solid"/>
            <a:headEnd type="none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3026664" y="2377440"/>
            <a:ext cx="1737360" cy="1554480"/>
          </a:xfrm>
          <a:prstGeom prst="roundRect">
            <a:avLst>
              <a:gd name="adj" fmla="val 7059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29584" y="260604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277063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118104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روح اعملها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2889504" y="3154680"/>
            <a:ext cx="137160" cy="0"/>
          </a:xfrm>
          <a:prstGeom prst="line">
            <a:avLst/>
          </a:prstGeom>
          <a:noFill/>
          <a:ln w="31750">
            <a:solidFill>
              <a:srgbClr val="FFB02E"/>
            </a:solidFill>
            <a:prstDash val="solid"/>
            <a:headEnd type="none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1170432" y="2377440"/>
            <a:ext cx="1737360" cy="1554480"/>
          </a:xfrm>
          <a:prstGeom prst="roundRect">
            <a:avLst>
              <a:gd name="adj" fmla="val 7059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673352" y="260604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7944" y="2770632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61872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قيّم + اتسجّلت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548640" y="448056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0A4F50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الذاكرة هي اللي بتحوّل الدليل لعادة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حجز بيتسجّل تلقائي في «جراج» عربيتك: صيانة، فلوس، وتاريخ كامل — اللي بيرفع التكرار ويفيد وقت البيع.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خريطة الطريق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الـ 13 أسبوع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10698480" cy="0"/>
          </a:xfrm>
          <a:prstGeom prst="line">
            <a:avLst/>
          </a:prstGeom>
          <a:noFill/>
          <a:ln w="38100">
            <a:solidFill>
              <a:srgbClr val="D4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05288" y="2679192"/>
            <a:ext cx="219456" cy="219456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310896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0" y="3337560"/>
            <a:ext cx="1993392" cy="457200"/>
          </a:xfrm>
          <a:prstGeom prst="roundRect">
            <a:avLst>
              <a:gd name="adj" fmla="val 12000"/>
            </a:avLst>
          </a:prstGeom>
          <a:solidFill>
            <a:srgbClr val="FFB02E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0" y="3346704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0" y="3931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الإعداد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18320" y="443484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ظبط Supabase وFilament + التصميم والداتا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98664" y="2679192"/>
            <a:ext cx="219456" cy="21945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37376" y="310896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11696" y="3337560"/>
            <a:ext cx="1993392" cy="45720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6711696" y="3346704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1–6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11696" y="3931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11696" y="443484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تسجيل، جراج، خريطة، حجز (الأساسيات)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2679192"/>
            <a:ext cx="219456" cy="219456"/>
          </a:xfrm>
          <a:prstGeom prst="ellipse">
            <a:avLst/>
          </a:prstGeom>
          <a:solidFill>
            <a:srgbClr val="17A2A2"/>
          </a:solidFill>
          <a:ln/>
        </p:spPr>
      </p:sp>
      <p:sp>
        <p:nvSpPr>
          <p:cNvPr id="18" name="Shape 16"/>
          <p:cNvSpPr/>
          <p:nvPr/>
        </p:nvSpPr>
        <p:spPr>
          <a:xfrm>
            <a:off x="3730752" y="310896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5072" y="3337560"/>
            <a:ext cx="1993392" cy="457200"/>
          </a:xfrm>
          <a:prstGeom prst="roundRect">
            <a:avLst>
              <a:gd name="adj" fmla="val 12000"/>
            </a:avLst>
          </a:prstGeom>
          <a:solidFill>
            <a:srgbClr val="17A2A2"/>
          </a:solidFill>
          <a:ln/>
        </p:spPr>
      </p:sp>
      <p:sp>
        <p:nvSpPr>
          <p:cNvPr id="20" name="Text 18"/>
          <p:cNvSpPr/>
          <p:nvPr/>
        </p:nvSpPr>
        <p:spPr>
          <a:xfrm>
            <a:off x="4005072" y="3346704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7–10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05072" y="3931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المراكز + الأدمن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05072" y="443484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B2B + التوثيق + الشارات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85416" y="2679192"/>
            <a:ext cx="219456" cy="219456"/>
          </a:xfrm>
          <a:prstGeom prst="ellipse">
            <a:avLst/>
          </a:prstGeom>
          <a:solidFill>
            <a:srgbClr val="0A4F5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4128" y="310896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98448" y="3337560"/>
            <a:ext cx="1993392" cy="457200"/>
          </a:xfrm>
          <a:prstGeom prst="roundRect">
            <a:avLst>
              <a:gd name="adj" fmla="val 12000"/>
            </a:avLst>
          </a:prstGeom>
          <a:solidFill>
            <a:srgbClr val="0A4F50"/>
          </a:solidFill>
          <a:ln/>
        </p:spPr>
      </p:sp>
      <p:sp>
        <p:nvSpPr>
          <p:cNvPr id="26" name="Text 24"/>
          <p:cNvSpPr/>
          <p:nvPr/>
        </p:nvSpPr>
        <p:spPr>
          <a:xfrm>
            <a:off x="1298448" y="3346704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11–13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3931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وإطلاق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98448" y="443484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بيتا، إصلاحات، إطلاق المدينة الأولى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قرارين بيقلّلوا المخاطرة: ابدأ كاش (أجّل الدفع/PCI)، وظبّط أول 50–100 مركز بإيدك — الثقة هي المنتج.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BF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النجاح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مقاييس النجاح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083E3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النجمة الشمالية:  </a:t>
            </a:r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الحجوزات الموثّقة المكتملة شهريًا في مدينة الإطلاق.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262872" y="30632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08592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400032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مركز موثّق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19672" y="30632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56832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 عربية نشِط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76472" y="30632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22192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913632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حجز مكتمل شهريًا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متوقع للحجوزات (تقديري)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383280"/>
          <a:ext cx="36118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DF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إثبات تكرار: ≥30% من الملاك يسجّلوا صيانة تانية خلال 60 يوم — دليل إن حلقة «الذاكرة» شغالة.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الباك إند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Laravel·Filament  ضد  Firebase  ضد  Supabase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783080"/>
            <a:ext cx="5330952" cy="2194560"/>
          </a:xfrm>
          <a:prstGeom prst="roundRect">
            <a:avLst>
              <a:gd name="adj" fmla="val 5000"/>
            </a:avLst>
          </a:prstGeom>
          <a:solidFill>
            <a:srgbClr val="FFFDF4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الترشيح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0" y="23774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خلّي Supabase الأساس (بياخد PostGIS للجيو + ريل تايم جاهز + أسرع وصول للـ MVP)، وضيف لوحة Laravel·Filament على نفس قاعدة البيانات. وFirebase للإشعارات (FCM) بس.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4114800"/>
            <a:ext cx="5330952" cy="68580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86968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جيو + ريل تايم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9224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الحاجتين اللي بيتحدد بيهم منتج «الخريطة الأول» — Supabase الأقوى.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09360" y="4873752"/>
            <a:ext cx="533095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69680" y="49651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السرعة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92240" y="49651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مطوّرين Flutter من غير متخصص باك إند → BaaS بيوصّلك أسرع.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09360" y="5632704"/>
            <a:ext cx="5330952" cy="68580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869680" y="572414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الأدمن + الدفع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92240" y="57241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Filament بيديك لوحة ويب قوية + مكان للدفع المحلي (Paymob/Fawry).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المعمارية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أساس + لوحة Filament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0" y="173736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06840" y="1965960"/>
            <a:ext cx="457200" cy="457200"/>
          </a:xfrm>
          <a:prstGeom prst="ellipse">
            <a:avLst/>
          </a:prstGeom>
          <a:solidFill>
            <a:srgbClr val="083E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2" y="207568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العميل (B2C)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91840" y="173736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23560" y="1965960"/>
            <a:ext cx="457200" cy="457200"/>
          </a:xfrm>
          <a:prstGeom prst="ellipse">
            <a:avLst/>
          </a:prstGeom>
          <a:solidFill>
            <a:srgbClr val="083E3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207568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المراكز (B2B)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— 3 واجهات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46320" y="2651760"/>
            <a:ext cx="0" cy="502920"/>
          </a:xfrm>
          <a:prstGeom prst="line">
            <a:avLst/>
          </a:prstGeom>
          <a:noFill/>
          <a:ln w="25400">
            <a:solidFill>
              <a:srgbClr val="5D737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229600" y="2651760"/>
            <a:ext cx="0" cy="502920"/>
          </a:xfrm>
          <a:prstGeom prst="line">
            <a:avLst/>
          </a:prstGeom>
          <a:noFill/>
          <a:ln w="25400">
            <a:solidFill>
              <a:srgbClr val="5D7373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743200" y="3200400"/>
            <a:ext cx="6702552" cy="1417320"/>
          </a:xfrm>
          <a:prstGeom prst="roundRect">
            <a:avLst>
              <a:gd name="adj" fmla="val 7742"/>
            </a:avLst>
          </a:prstGeom>
          <a:solidFill>
            <a:srgbClr val="0A4F50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017520" y="331012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092440" y="3794760"/>
            <a:ext cx="1170432" cy="548640"/>
          </a:xfrm>
          <a:prstGeom prst="roundRect">
            <a:avLst>
              <a:gd name="adj" fmla="val 8333"/>
            </a:avLst>
          </a:prstGeom>
          <a:solidFill>
            <a:srgbClr val="0E7C7B"/>
          </a:solidFill>
          <a:ln/>
        </p:spPr>
      </p:sp>
      <p:sp>
        <p:nvSpPr>
          <p:cNvPr id="18" name="Text 14"/>
          <p:cNvSpPr/>
          <p:nvPr/>
        </p:nvSpPr>
        <p:spPr>
          <a:xfrm>
            <a:off x="8110728" y="379476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+ PostGIS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793992" y="3794760"/>
            <a:ext cx="1170432" cy="548640"/>
          </a:xfrm>
          <a:prstGeom prst="roundRect">
            <a:avLst>
              <a:gd name="adj" fmla="val 8333"/>
            </a:avLst>
          </a:prstGeom>
          <a:solidFill>
            <a:srgbClr val="0E7C7B"/>
          </a:solidFill>
          <a:ln/>
        </p:spPr>
      </p:sp>
      <p:sp>
        <p:nvSpPr>
          <p:cNvPr id="20" name="Text 16"/>
          <p:cNvSpPr/>
          <p:nvPr/>
        </p:nvSpPr>
        <p:spPr>
          <a:xfrm>
            <a:off x="6812280" y="379476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المصادقة (OTP)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495544" y="3794760"/>
            <a:ext cx="1170432" cy="548640"/>
          </a:xfrm>
          <a:prstGeom prst="roundRect">
            <a:avLst>
              <a:gd name="adj" fmla="val 8333"/>
            </a:avLst>
          </a:prstGeom>
          <a:solidFill>
            <a:srgbClr val="0E7C7B"/>
          </a:solidFill>
          <a:ln/>
        </p:spPr>
      </p:sp>
      <p:sp>
        <p:nvSpPr>
          <p:cNvPr id="22" name="Text 18"/>
          <p:cNvSpPr/>
          <p:nvPr/>
        </p:nvSpPr>
        <p:spPr>
          <a:xfrm>
            <a:off x="5513832" y="379476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197096" y="3794760"/>
            <a:ext cx="1170432" cy="548640"/>
          </a:xfrm>
          <a:prstGeom prst="roundRect">
            <a:avLst>
              <a:gd name="adj" fmla="val 8333"/>
            </a:avLst>
          </a:prstGeom>
          <a:solidFill>
            <a:srgbClr val="0E7C7B"/>
          </a:solidFill>
          <a:ln/>
        </p:spPr>
      </p:sp>
      <p:sp>
        <p:nvSpPr>
          <p:cNvPr id="24" name="Text 20"/>
          <p:cNvSpPr/>
          <p:nvPr/>
        </p:nvSpPr>
        <p:spPr>
          <a:xfrm>
            <a:off x="4215384" y="379476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2898648" y="3794760"/>
            <a:ext cx="1170432" cy="548640"/>
          </a:xfrm>
          <a:prstGeom prst="roundRect">
            <a:avLst>
              <a:gd name="adj" fmla="val 8333"/>
            </a:avLst>
          </a:prstGeom>
          <a:solidFill>
            <a:srgbClr val="0E7C7B"/>
          </a:solidFill>
          <a:ln/>
        </p:spPr>
      </p:sp>
      <p:sp>
        <p:nvSpPr>
          <p:cNvPr id="26" name="Text 22"/>
          <p:cNvSpPr/>
          <p:nvPr/>
        </p:nvSpPr>
        <p:spPr>
          <a:xfrm>
            <a:off x="2916936" y="379476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Functions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8138160" y="498348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394192" y="5239512"/>
            <a:ext cx="566928" cy="566928"/>
          </a:xfrm>
          <a:prstGeom prst="ellipse">
            <a:avLst/>
          </a:prstGeom>
          <a:solidFill>
            <a:srgbClr val="FFB02E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5385816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098280" y="52395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Laravel·Filament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8394192" y="5879592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· نزاعات · تحويلات · على نفس قاعدة البيانات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334256" y="498348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590288" y="5239512"/>
            <a:ext cx="566928" cy="566928"/>
          </a:xfrm>
          <a:prstGeom prst="ellipse">
            <a:avLst/>
          </a:prstGeom>
          <a:solidFill>
            <a:srgbClr val="17A2A2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5385816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294376" y="52395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4590288" y="5879592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Push للتطبيقات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530352" y="498348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86384" y="5239512"/>
            <a:ext cx="566928" cy="566928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385816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490472" y="52395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دفع محلية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786384" y="5879592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Paymob / Fawry — مرحلة 2 (سيرفر-سايد)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6035040" y="4617720"/>
            <a:ext cx="0" cy="365760"/>
          </a:xfrm>
          <a:prstGeom prst="line">
            <a:avLst/>
          </a:prstGeom>
          <a:noFill/>
          <a:ln w="25400">
            <a:solidFill>
              <a:srgbClr val="5D737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نموذج العمل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إيه جراجي بيكسب؟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303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مصادر دخل تكبر مع المنصّة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26480" y="2331720"/>
            <a:ext cx="5513832" cy="694944"/>
          </a:xfrm>
          <a:prstGeom prst="roundRect">
            <a:avLst>
              <a:gd name="adj" fmla="val 7895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05256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الحجز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0936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على كل حجز مكتمل عبر التطبيق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3118104"/>
            <a:ext cx="551383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052560" y="32095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المراكز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09360" y="32095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باقات Pro/Partner بمميزات أكتر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26480" y="3904488"/>
            <a:ext cx="5513832" cy="694944"/>
          </a:xfrm>
          <a:prstGeom prst="roundRect">
            <a:avLst>
              <a:gd name="adj" fmla="val 7895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052560" y="3995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شارة موثّق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309360" y="3995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توثيق وظهور مميّز على الخريطة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26480" y="4690872"/>
            <a:ext cx="551383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52560" y="4782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عروض وإعلانات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09360" y="4782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ترويج المراكز والكوبونات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26480" y="5477256"/>
            <a:ext cx="5513832" cy="694944"/>
          </a:xfrm>
          <a:prstGeom prst="roundRect">
            <a:avLst>
              <a:gd name="adj" fmla="val 7895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052560" y="55686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شراكات الإنقاذ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309360" y="55686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على خدمات الطوارئ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ce-laughing-cannon/mnt/outputs/brand/png/icon_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09728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606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جراجي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جراجك الموثوق على الخريطة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0160" y="45720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F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الخطوات الجاية: اعتمد الاسم وسجّله · ثبّت الاتجاه (أ) · ظبّط Supabase + لوحة Filament · اعمل seed لـ 50–100 مركز موثّق · ابني الـ MVP في 13 أسبوع.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7F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مُعدّ لـ Dpharma-IT · يونيو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جراجي — استراتيجية المنتج</dc:title>
  <dc:subject>PptxGenJS Presentation</dc:subject>
  <dc:creator>Dpharma-IT</dc:creator>
  <cp:lastModifiedBy>Dpharma-IT</cp:lastModifiedBy>
  <cp:revision>1</cp:revision>
  <dcterms:created xsi:type="dcterms:W3CDTF">2026-06-13T15:34:01Z</dcterms:created>
  <dcterms:modified xsi:type="dcterms:W3CDTF">2026-06-13T15:34:01Z</dcterms:modified>
</cp:coreProperties>
</file>